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e8a890-70ae-09ed-18f0-a9bcd5abcffc}">
          <p14:sldIdLst>
            <p14:sldId id="256"/>
            <p14:sldId id="257"/>
            <p14:sldId id="258"/>
          </p14:sldIdLst>
        </p14:section>
        <p14:section name="Design" id="{4a4cd00e-94af-2aba-b361-a05b75d31468}">
          <p14:sldIdLst>
            <p14:sldId id="259"/>
            <p14:sldId id="260"/>
            <p14:sldId id="261"/>
            <p14:sldId id="262"/>
          </p14:sldIdLst>
        </p14:section>
        <p14:section name="Implementation" id="{7f6636f0-f73c-1c97-28b7-ffbb44f9a1d0}">
          <p14:sldIdLst>
            <p14:sldId id="263"/>
            <p14:sldId id="264"/>
            <p14:sldId id="265"/>
          </p14:sldIdLst>
        </p14:section>
        <p14:section name="Results" id="{118be4d5-852c-33e0-8a4a-c50ea2cc17d5}">
          <p14:sldIdLst>
            <p14:sldId id="266"/>
            <p14:sldId id="267"/>
            <p14:sldId id="268"/>
            <p14:sldId id="269"/>
          </p14:sldIdLst>
        </p14:section>
        <p14:section name="Conclusion" id="{5b0b2d40-7ef4-4cf9-8cec-3fe241a8975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1A2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51A23"/>
                </a:solidFill>
                <a:latin typeface="+mn-lt"/>
              </a:rPr>
              <a:t>Candidate mutants per program (budget 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Tried</c:v>
                </c:pt>
              </c:strCache>
            </c:strRef>
          </c:tx>
          <c:spPr>
            <a:solidFill>
              <a:srgbClr val="D9DF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55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valid1</c:v>
                  </c:pt>
                  <c:pt idx="1">
                    <c:v>branchy2</c:v>
                  </c:pt>
                  <c:pt idx="2">
                    <c:v>countdown</c:v>
                  </c:pt>
                  <c:pt idx="3">
                    <c:v>gcd</c:v>
                  </c:pt>
                  <c:pt idx="4">
                    <c:v>large_loop</c:v>
                  </c:pt>
                  <c:pt idx="5">
                    <c:v>collatz</c:v>
                  </c:pt>
                  <c:pt idx="6">
                    <c:v>digits</c:v>
                  </c:pt>
                  <c:pt idx="7">
                    <c:v>strings</c:v>
                  </c:pt>
                  <c:pt idx="8">
                    <c:v>arrays</c:v>
                  </c:pt>
                  <c:pt idx="9">
                    <c:v>bubble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Proven</c:v>
                </c:pt>
              </c:strCache>
            </c:strRef>
          </c:tx>
          <c:spPr>
            <a:solidFill>
              <a:srgbClr val="2F9E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55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valid1</c:v>
                  </c:pt>
                  <c:pt idx="1">
                    <c:v>branchy2</c:v>
                  </c:pt>
                  <c:pt idx="2">
                    <c:v>countdown</c:v>
                  </c:pt>
                  <c:pt idx="3">
                    <c:v>gcd</c:v>
                  </c:pt>
                  <c:pt idx="4">
                    <c:v>large_loop</c:v>
                  </c:pt>
                  <c:pt idx="5">
                    <c:v>collatz</c:v>
                  </c:pt>
                  <c:pt idx="6">
                    <c:v>digits</c:v>
                  </c:pt>
                  <c:pt idx="7">
                    <c:v>strings</c:v>
                  </c:pt>
                  <c:pt idx="8">
                    <c:v>arrays</c:v>
                  </c:pt>
                  <c:pt idx="9">
                    <c:v>bubble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455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5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A455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51A2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51A23"/>
                </a:solidFill>
                <a:latin typeface="+mn-lt"/>
              </a:rPr>
              <a:t>bubble.gc, mean of 20 runs (ms per stage)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(ms)</c:v>
                </c:pt>
              </c:strCache>
            </c:strRef>
          </c:tx>
          <c:spPr>
            <a:solidFill>
              <a:srgbClr val="D9DFDB"/>
            </a:solidFill>
            <a:effectLst/>
          </c:spPr>
          <c:invertIfNegative val="0"/>
          <c:dLbls>
            <c:numFmt formatCode="0.00&quot; ms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55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DF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9E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9E4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Semantic</c:v>
                  </c:pt>
                  <c:pt idx="1">
                    <c:v>CFG build</c:v>
                  </c:pt>
                  <c:pt idx="2">
                    <c:v>Liveness</c:v>
                  </c:pt>
                  <c:pt idx="3">
                    <c:v>Reaching defs</c:v>
                  </c:pt>
                  <c:pt idx="4">
                    <c:v>TAC generation</c:v>
                  </c:pt>
                  <c:pt idx="5">
                    <c:v>Mutation</c:v>
                  </c:pt>
                  <c:pt idx="6">
                    <c:v>Execute + verify</c:v>
                  </c:pt>
                  <c:pt idx="7">
                    <c:v>Parse (ANTLR)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</c:v>
                </c:pt>
                <c:pt idx="1">
                  <c:v>0.06</c:v>
                </c:pt>
                <c:pt idx="2">
                  <c:v>0.15</c:v>
                </c:pt>
                <c:pt idx="3">
                  <c:v>0.21</c:v>
                </c:pt>
                <c:pt idx="4">
                  <c:v>0.29</c:v>
                </c:pt>
                <c:pt idx="5">
                  <c:v>0.36</c:v>
                </c:pt>
                <c:pt idx="6">
                  <c:v>3.44</c:v>
                </c:pt>
                <c:pt idx="7">
                  <c:v>4.62</c:v>
                </c:pt>
              </c:numCache>
            </c:numRef>
          </c:val>
        </c:ser>
        <c:dLbls>
          <c:numFmt formatCode="0.00&quot; ms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455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5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GREMLIN compiles a small C-like language, analyses it with liveness and reaching definitions, then deliberately applies unsound optimisations. It keeps a bug only when the interpreter proves the output changed, and turns each proven bug into a debugging puzzle.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no practical tool generates proven compiler-optimisation bugs for teaching. Fuzzing is noisy, hand-made exercises don't scale, and theory is disconnected from symptoms.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analyses that make optimisation safe are used to pick where it would be unsafe. Execution is the final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numbers: 37 tests, zero strict type errors, six rules, 42 of 46 candidate mutants proven across 10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end: ANTLR lexer and parser, typed AST, semantic analysis. Middle end: TAC, CFG, dataflow, mutation engine. Back end: interpreter runs original and mutant; only differing outputs become puzzles.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phase added strings and arrays end to end: grammar, AST, type checker, TAC, interpreter, dataflow and mutators.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phases from the course manual's list except target machine code; the back end is an interpreter, listed in the manual as interpretation and execution. Highlighted: dataflow and optimisation, the core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Iterative fixpoint over basic blocks. The CFG shows the loop back edge that the Phase 3 fix restored.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to M3 came in Phase 2; M4 to M6 and the array and string variants in the final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M6 aliasing puzzle on arrays.gc: forwarding the store to a[5] into the load of a[0] prints first=42 instead of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valid program yields proven puzzles; the four non-proven candidates behaved identically and were filtered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with driver.py --bench 20 on the author's laptop. Run time scales with interpreted steps: collatz takes about 300 ms because some mutants loop until the step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test functions, 37 cases including 8 parametrised type-error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exact class of bug GREMLIN teaches: a silent analysis error. Found while checking the CFG drawing for collatz.gc.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for the live demo: validator, valid1, collatz report, strings, arrays, errors, bench,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BD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GREMLIN  ·  BCSE307P Review 3  ·  Akshith 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END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ith-types/gremlin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GREMLIN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31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BD0"/>
                </a:solidFill>
              </a:rPr>
              <a:t>An adversarial puzzle compiler using data-flow-driven mutation of three-address code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9B4C2"/>
                </a:solidFill>
              </a:rPr>
              <a:t>Akshith M  ·  24BAI0017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9B4C2"/>
                </a:solidFill>
              </a:rPr>
              <a:t>BCSE307P Compiler Design Laboratory  ·  Guide: Ranjithkumar 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9B4C2"/>
                </a:solidFill>
              </a:rPr>
              <a:t>Review 3: Final Implementation and Testing</a:t>
            </a:r>
            <a:endParaRPr lang="en-US" sz="1300" dirty="0"/>
          </a:p>
        </p:txBody>
      </p:sp>
      <p:sp>
        <p:nvSpPr>
          <p:cNvPr id="5" name="hero-circle"/>
          <p:cNvSpPr/>
          <p:nvPr/>
        </p:nvSpPr>
        <p:spPr>
          <a:xfrm>
            <a:off x="662940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b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Optimisers can break correct programs silently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374904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miscompilation in one 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7;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 = (a / 2) * 2;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9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optimiser: (a/2)*2  → 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prints  c=13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A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mutant prints    c=14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4C2"/>
                </a:solidFill>
              </a:rPr>
              <a:t>Source is correct; the bug lives in the translation.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480560" y="1143000"/>
            <a:ext cx="4206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-circle"/>
          <p:cNvSpPr/>
          <p:nvPr/>
        </p:nvSpPr>
        <p:spPr>
          <a:xfrm>
            <a:off x="4663440" y="1371600"/>
            <a:ext cx="548640" cy="548640"/>
          </a:xfrm>
          <a:prstGeom prst="ellipse">
            <a:avLst/>
          </a:prstGeom>
          <a:solidFill>
            <a:srgbClr val="FDE8DD"/>
          </a:solidFill>
          <a:ln w="12700">
            <a:solidFill>
              <a:srgbClr val="FDE8DD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087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1307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 fuzzing is noisy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6184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Most random edits fail to compile or behave the same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480560" y="2304288"/>
            <a:ext cx="4206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-circle"/>
          <p:cNvSpPr/>
          <p:nvPr/>
        </p:nvSpPr>
        <p:spPr>
          <a:xfrm>
            <a:off x="4663440" y="2532888"/>
            <a:ext cx="548640" cy="548640"/>
          </a:xfrm>
          <a:prstGeom prst="ellipse">
            <a:avLst/>
          </a:prstGeom>
          <a:solidFill>
            <a:srgbClr val="FDE8DD"/>
          </a:solidFill>
          <a:ln w="12700">
            <a:solidFill>
              <a:srgbClr val="FDE8DD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67004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9496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Hand-made exercises don't scale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394960" y="27797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one must be written and checked by hand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480560" y="3465576"/>
            <a:ext cx="4206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"/>
          <p:cNvSpPr/>
          <p:nvPr/>
        </p:nvSpPr>
        <p:spPr>
          <a:xfrm>
            <a:off x="4663440" y="3694176"/>
            <a:ext cx="548640" cy="548640"/>
          </a:xfrm>
          <a:prstGeom prst="ellipse">
            <a:avLst/>
          </a:prstGeom>
          <a:solidFill>
            <a:srgbClr val="FDE8DD"/>
          </a:solidFill>
          <a:ln w="12700">
            <a:solidFill>
              <a:srgbClr val="FDE8DD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313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94960" y="36301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Theory is detached from symptoms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394960" y="394106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Dataflow equations are taught without the wrong output they prevent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GREMLIN inverts the optimiser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68580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887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Analyse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Build the CFG and run liveness and reaching definitions to find where a rewrite would be unsafe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35204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15887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Mutate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Apply one of six unsound optimisation rules at exactly that instruction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card"/>
          <p:cNvSpPr/>
          <p:nvPr/>
        </p:nvSpPr>
        <p:spPr>
          <a:xfrm>
            <a:off x="6126480" y="1188720"/>
            <a:ext cx="256032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6355080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158877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Prove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651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Run original and mutant on the TAC interpreter; keep the mutant only if the output differs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E44"/>
                </a:solidFill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puzzle is a real, proven bug with a one-line TAC diff, a difficulty rating and three hints.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eight objectives are met in the final build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 pass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6032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mypy --strict errors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unsound mutation rules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66560" y="114300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of candidate mutants proven</a:t>
            </a:r>
            <a:endParaRPr lang="en-US" sz="1200" dirty="0"/>
          </a:p>
        </p:txBody>
      </p:sp>
      <p:pic>
        <p:nvPicPr>
          <p:cNvPr id="15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61488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77240" y="2697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GremlinC grammar with int, string, int[]</a:t>
            </a:r>
            <a:endParaRPr lang="en-US" sz="1400" dirty="0"/>
          </a:p>
        </p:txBody>
      </p:sp>
      <p:pic>
        <p:nvPicPr>
          <p:cNvPr id="17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76148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983480" y="2697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ANTLR4 lexer, parser and AST</a:t>
            </a:r>
            <a:endParaRPr lang="en-US" sz="1400" dirty="0"/>
          </a:p>
        </p:txBody>
      </p:sp>
      <p:pic>
        <p:nvPicPr>
          <p:cNvPr id="19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3697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77240" y="3172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Symbol table and static type checker</a:t>
            </a:r>
            <a:endParaRPr lang="en-US" sz="1400" dirty="0"/>
          </a:p>
        </p:txBody>
      </p:sp>
      <p:pic>
        <p:nvPicPr>
          <p:cNvPr id="21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3697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983480" y="3172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TAC generation and control-flow graph</a:t>
            </a:r>
            <a:endParaRPr lang="en-US" sz="1400" dirty="0"/>
          </a:p>
        </p:txBody>
      </p:sp>
      <p:pic>
        <p:nvPicPr>
          <p:cNvPr id="23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1246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77240" y="3648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Liveness and reaching-definitions analysis</a:t>
            </a:r>
            <a:endParaRPr lang="en-US" sz="1400" dirty="0"/>
          </a:p>
        </p:txBody>
      </p:sp>
      <p:pic>
        <p:nvPicPr>
          <p:cNvPr id="25" name="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1246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983480" y="3648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 analysis-driven mutation rules</a:t>
            </a:r>
            <a:endParaRPr lang="en-US" sz="1400" dirty="0"/>
          </a:p>
        </p:txBody>
      </p:sp>
      <p:pic>
        <p:nvPicPr>
          <p:cNvPr id="27" name="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8795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77240" y="4123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Proof by differential execution + puzzles</a:t>
            </a:r>
            <a:endParaRPr lang="en-US" sz="1400" dirty="0"/>
          </a:p>
        </p:txBody>
      </p:sp>
      <p:pic>
        <p:nvPicPr>
          <p:cNvPr id="29" name="che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187952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983480" y="4123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Tests, strict typing and benchmarks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modules in a three-stage pipeline</a:t>
            </a:r>
            <a:endParaRPr lang="en-US" sz="2600" dirty="0"/>
          </a:p>
        </p:txBody>
      </p:sp>
      <p:pic>
        <p:nvPicPr>
          <p:cNvPr id="3" name="architecture" descr="/home/claude/sho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960120"/>
            <a:ext cx="658368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GremlinC now has integers, strings and arrays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word = "gremlin";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a[6] = {4, 8, 15, 16, 23, 42};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first = a[0];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len(word);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&gt;= 0)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 = rev + word[i];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- 1;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rev;   // rev="nilmerg"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a;     // a=[4,8,15,...]</a:t>
            </a:r>
            <a:endParaRPr lang="en-US" sz="1350" dirty="0"/>
          </a:p>
        </p:txBody>
      </p:sp>
      <p:sp>
        <p:nvSpPr>
          <p:cNvPr id="5" name="icon-circle"/>
          <p:cNvSpPr/>
          <p:nvPr/>
        </p:nvSpPr>
        <p:spPr>
          <a:xfrm>
            <a:off x="4800600" y="1170432"/>
            <a:ext cx="548640" cy="54864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075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097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Static type checking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int, string, int[]; rejects 8 kinds of type error</a:t>
            </a:r>
            <a:endParaRPr lang="en-US" sz="1300" dirty="0"/>
          </a:p>
        </p:txBody>
      </p:sp>
      <p:sp>
        <p:nvSpPr>
          <p:cNvPr id="9" name="icon-circle"/>
          <p:cNvSpPr/>
          <p:nvPr/>
        </p:nvSpPr>
        <p:spPr>
          <a:xfrm>
            <a:off x="4800600" y="2057400"/>
            <a:ext cx="548640" cy="54864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9842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Strings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2331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Escapes, + concatenation, len(s), s[i]</a:t>
            </a:r>
            <a:endParaRPr lang="en-US" sz="1300" dirty="0"/>
          </a:p>
        </p:txBody>
      </p:sp>
      <p:sp>
        <p:nvSpPr>
          <p:cNvPr id="13" name="icon-circle"/>
          <p:cNvSpPr/>
          <p:nvPr/>
        </p:nvSpPr>
        <p:spPr>
          <a:xfrm>
            <a:off x="4800600" y="2944368"/>
            <a:ext cx="548640" cy="54864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08152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32120" y="28712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Arrays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532120" y="3218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Initialiser lists, a[i] loads and stores, bounds checks</a:t>
            </a:r>
            <a:endParaRPr lang="en-US" sz="1300" dirty="0"/>
          </a:p>
        </p:txBody>
      </p:sp>
      <p:sp>
        <p:nvSpPr>
          <p:cNvPr id="17" name="icon-circle"/>
          <p:cNvSpPr/>
          <p:nvPr/>
        </p:nvSpPr>
        <p:spPr>
          <a:xfrm>
            <a:off x="4800600" y="3831336"/>
            <a:ext cx="548640" cy="54864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6849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32120" y="37581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 TAC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532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newarr, load, store, len, ++ (13 opcodes total)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compiler phase is implemented and tested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Lexical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ANTLR4 lexer, 7 keywords, string escapes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2130552" y="114300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7712" y="1252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0574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18 parser rules, ALL(*)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3803904" y="114300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41064" y="1252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Syntax tree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0574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Immutable typed AST with line numbers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5477256" y="114300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14416" y="1252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Symbol table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0574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Name to type, redeclaration checks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7150608" y="114300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87768" y="1252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6002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Semantic analysis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05740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Types, scope, use before init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57200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337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Intermediate code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Three-address code, 13 opcodes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2130552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67712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267712" y="3337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Basic blocks + CFG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267712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Leader algorithm, branch edges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3803904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41064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941064" y="3337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Dataflow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941064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Liveness and reaching definitions</a:t>
            </a:r>
            <a:endParaRPr lang="en-US" sz="1100" dirty="0"/>
          </a:p>
        </p:txBody>
      </p:sp>
      <p:sp>
        <p:nvSpPr>
          <p:cNvPr id="35" name="card"/>
          <p:cNvSpPr/>
          <p:nvPr/>
        </p:nvSpPr>
        <p:spPr>
          <a:xfrm>
            <a:off x="5477256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14416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14416" y="3337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Optimisation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14416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Six rewrites applied unsoundly</a:t>
            </a:r>
            <a:endParaRPr lang="en-US" sz="1100" dirty="0"/>
          </a:p>
        </p:txBody>
      </p:sp>
      <p:sp>
        <p:nvSpPr>
          <p:cNvPr id="39" name="card"/>
          <p:cNvSpPr/>
          <p:nvPr/>
        </p:nvSpPr>
        <p:spPr>
          <a:xfrm>
            <a:off x="7150608" y="2880360"/>
            <a:ext cx="1536192" cy="1554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87768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287768" y="3337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Execution + errors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287768" y="3794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Interpreter with runtime traps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analysis decides where a rewrite is unsafe</a:t>
            </a:r>
            <a:endParaRPr lang="en-US" sz="2600" dirty="0"/>
          </a:p>
        </p:txBody>
      </p:sp>
      <p:pic>
        <p:nvPicPr>
          <p:cNvPr id="3" name="cfg-collatz" descr="/home/claude/shots/rep_cfg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557602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5537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collatz.gc loop: back edge B5 → B1, if/else diamond</a:t>
            </a:r>
            <a:endParaRPr lang="en-US" sz="900" dirty="0"/>
          </a:p>
        </p:txBody>
      </p:sp>
      <p:sp>
        <p:nvSpPr>
          <p:cNvPr id="5" name="card"/>
          <p:cNvSpPr/>
          <p:nvPr/>
        </p:nvSpPr>
        <p:spPr>
          <a:xfrm>
            <a:off x="3246120" y="1051560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474720" y="1143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Liveness (backward)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OUT[B] = ∪ IN[S]   IN[B] = use[B] ∪ (OUT[B] − def[B])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M1 deletes a store only when the variable is in OUT[B]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46120" y="2331720"/>
            <a:ext cx="54406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2423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Reaching definitions (forward)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743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IN[B] = ∪ OUT[P]   OUT[B] = gen[B] ∪ (IN[B] − kill[B])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0906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M3 propagates a copy only where another definition reaches the use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3246120" y="36118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DE8DD"/>
          </a:solidFill>
          <a:ln w="12700">
            <a:solidFill>
              <a:srgbClr val="FDE8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3611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Arrays: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store a[i] = v reads a and never kills it, so an array stays live while any later load can see it. Both analyses converge in at most 4 passes.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unsound rules, each tied to a compiler property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965960"/>
                <a:gridCol w="1783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Unsound rewrite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using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violated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Dead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live definition or array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OUT[B]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Algebra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/ c) * c  →  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resolution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division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Copy propagation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src where a = src does not reach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Reaching definitions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Reaching definitions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Off-by-one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 ↔  &lt;=,   &gt;  ↔  &gt;=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conditional jump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boundary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Commutativity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operands of -, /, %, string ++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Non-commutative 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Store forwarding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a[j] takes the value stored to a[i]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then load in a block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dependence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Candidates are interleaved round-robin across rules, so a small budget still covers every kind of bug.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proven bug becomes a graded puzzle</a:t>
            </a:r>
            <a:endParaRPr lang="en-US" sz="2600" dirty="0"/>
          </a:p>
        </p:txBody>
      </p:sp>
      <p:pic>
        <p:nvPicPr>
          <p:cNvPr id="3" name="puzzle-card" descr="/home/claude/shots/rep_card_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675999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One-line TAC diff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12893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Dead code is left in place so the change stays visible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Difficulty 1 to 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22219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Rule cost, +1 inside a loop, +1 if the first output looks right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2825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Three-step hint ladder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Symptom, then category, then exact instruction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7581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Interactive report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4087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CFG diagram, dataflow table, Locate in CFG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candidate mutants were proven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400800" y="105156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124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46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618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candidates proven to change output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6400800" y="224028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313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equivalent mutants discarded automatically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6400800" y="342900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35021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995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invalid programs rejected with a precise error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and execution dominate a 9.2 ms run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400800" y="105156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124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KiB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618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peak Python heap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6400800" y="224028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313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0.3 ms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per dataflow analysis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6400800" y="3429000"/>
            <a:ext cx="228600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35021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995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step limit bounds every run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tests cover every class of input</a:t>
            </a:r>
            <a:endParaRPr lang="en-US" sz="2600" dirty="0"/>
          </a:p>
        </p:txBody>
      </p:sp>
      <p:pic>
        <p:nvPicPr>
          <p:cNvPr id="3" name="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064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 inputs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441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Exact expected output for valid1, gcd, strings, arrays, bubble</a:t>
            </a:r>
            <a:endParaRPr lang="en-US" sz="1200" dirty="0"/>
          </a:p>
        </p:txBody>
      </p:sp>
      <p:pic>
        <p:nvPicPr>
          <p:cNvPr id="6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9656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1764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Invalid inputs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Syntax error, undeclared variable, 8 distinct type errors</a:t>
            </a:r>
            <a:endParaRPr lang="en-US" sz="1200" dirty="0"/>
          </a:p>
        </p:txBody>
      </p:sp>
      <p:pic>
        <p:nvPicPr>
          <p:cNvPr id="9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219456" cy="21945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296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Boundary cases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2770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Empty file, out-of-bounds index, 10,000-iteration loop</a:t>
            </a:r>
            <a:endParaRPr lang="en-US" sz="1200" dirty="0"/>
          </a:p>
        </p:txBody>
      </p:sp>
      <p:pic>
        <p:nvPicPr>
          <p:cNvPr id="12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4612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" y="31912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conditions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22960" y="3483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Division by zero, step limit, undefined reads, type confusion</a:t>
            </a:r>
            <a:endParaRPr lang="en-US" sz="1200" dirty="0"/>
          </a:p>
        </p:txBody>
      </p:sp>
      <p:pic>
        <p:nvPicPr>
          <p:cNvPr id="15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935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22960" y="39044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Analysis checks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822960" y="41970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Liveness equations, loop back edge, determinism</a:t>
            </a:r>
            <a:endParaRPr lang="en-US" sz="1200" dirty="0"/>
          </a:p>
        </p:txBody>
      </p:sp>
      <p:pic>
        <p:nvPicPr>
          <p:cNvPr id="18" name="validator" descr="/home/claude/shots/term_valida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051560"/>
            <a:ext cx="4434840" cy="1251610"/>
          </a:xfrm>
          <a:prstGeom prst="rect">
            <a:avLst/>
          </a:prstGeom>
        </p:spPr>
      </p:pic>
      <p:pic>
        <p:nvPicPr>
          <p:cNvPr id="19" name="errors" descr="/home/claude/shots/term_erro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2468880"/>
            <a:ext cx="4434840" cy="94117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251960" y="3566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Every stage validated by mypy --strict and pytest via validator.py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GREMLIN surfaced a real compiler bug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DE8DD"/>
          </a:solidFill>
          <a:ln w="12700">
            <a:solidFill>
              <a:srgbClr val="FDE8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Before: goto target read from the wrong field</a:t>
            </a:r>
            <a:endParaRPr lang="en-US" sz="1400" dirty="0"/>
          </a:p>
        </p:txBody>
      </p:sp>
      <p:sp>
        <p:nvSpPr>
          <p:cNvPr id="5" name="mini-block"/>
          <p:cNvSpPr/>
          <p:nvPr/>
        </p:nvSpPr>
        <p:spPr>
          <a:xfrm>
            <a:off x="1051560" y="17830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 loop header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97380" y="2240280"/>
            <a:ext cx="0" cy="320040"/>
          </a:xfrm>
          <a:prstGeom prst="line">
            <a:avLst/>
          </a:prstGeom>
          <a:noFill/>
          <a:ln w="15875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8" name="mini-block"/>
          <p:cNvSpPr/>
          <p:nvPr/>
        </p:nvSpPr>
        <p:spPr>
          <a:xfrm>
            <a:off x="1051560" y="25603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 body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97380" y="3017520"/>
            <a:ext cx="0" cy="320040"/>
          </a:xfrm>
          <a:prstGeom prst="line">
            <a:avLst/>
          </a:prstGeom>
          <a:noFill/>
          <a:ln w="15875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11" name="mini-block"/>
          <p:cNvSpPr/>
          <p:nvPr/>
        </p:nvSpPr>
        <p:spPr>
          <a:xfrm>
            <a:off x="1051560" y="33375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  goto L1</a:t>
            </a:r>
            <a:endParaRPr lang="en-US" sz="1100" dirty="0"/>
          </a:p>
        </p:txBody>
      </p:sp>
      <p:pic>
        <p:nvPicPr>
          <p:cNvPr id="13" name="missing-ed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83464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back edge, so liveness was wrong in every loop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709160" y="105156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After: _target() reads arg1 for goto</a:t>
            </a:r>
            <a:endParaRPr lang="en-US" sz="1400" dirty="0"/>
          </a:p>
        </p:txBody>
      </p:sp>
      <p:sp>
        <p:nvSpPr>
          <p:cNvPr id="17" name="mini-block"/>
          <p:cNvSpPr/>
          <p:nvPr/>
        </p:nvSpPr>
        <p:spPr>
          <a:xfrm>
            <a:off x="5303520" y="17830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 loop header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49340" y="2240280"/>
            <a:ext cx="0" cy="320040"/>
          </a:xfrm>
          <a:prstGeom prst="line">
            <a:avLst/>
          </a:prstGeom>
          <a:noFill/>
          <a:ln w="15875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20" name="mini-block"/>
          <p:cNvSpPr/>
          <p:nvPr/>
        </p:nvSpPr>
        <p:spPr>
          <a:xfrm>
            <a:off x="5303520" y="256032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 body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9340" y="3017520"/>
            <a:ext cx="0" cy="320040"/>
          </a:xfrm>
          <a:prstGeom prst="line">
            <a:avLst/>
          </a:prstGeom>
          <a:noFill/>
          <a:ln w="15875">
            <a:solidFill>
              <a:srgbClr val="3A4556"/>
            </a:solidFill>
            <a:prstDash val="solid"/>
            <a:tailEnd type="triangle"/>
          </a:ln>
        </p:spPr>
      </p:sp>
      <p:sp>
        <p:nvSpPr>
          <p:cNvPr id="23" name="mini-block"/>
          <p:cNvSpPr/>
          <p:nvPr/>
        </p:nvSpPr>
        <p:spPr>
          <a:xfrm>
            <a:off x="5303520" y="33375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45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  goto L1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83480" y="3566160"/>
            <a:ext cx="32004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83480" y="2011680"/>
            <a:ext cx="0" cy="155448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83480" y="2011680"/>
            <a:ext cx="32004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708660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Back edge B5 → B1 restored; tests T9 and T10 pin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E99A"/>
                </a:solidFill>
              </a:rPr>
              <a:t>What GREMLIN delivers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A complete, tested compiler for a typed language with strings and arrays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Dataflow analysis inverted to generate proven, explained bugs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Execution is the final judge: 42 of 46 candidates proven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078"/>
                </a:solidFill>
              </a:rPr>
              <a:t>Future enhancements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55448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Functions and nested scopes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SSA form with phi-nodes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More rules: unsafe LICM, overflow folding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LLVM IR target, mutate at that level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9ECEF"/>
                </a:solidFill>
              </a:rPr>
              <a:t>Web playground with scoring</a:t>
            </a:r>
            <a:endParaRPr lang="en-US" sz="1400" dirty="0"/>
          </a:p>
        </p:txBody>
      </p:sp>
      <p:pic>
        <p:nvPicPr>
          <p:cNvPr id="7" name="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60520"/>
            <a:ext cx="320040" cy="320040"/>
          </a:xfrm>
          <a:prstGeom prst="rect">
            <a:avLst/>
          </a:prstGeom>
        </p:spPr>
      </p:pic>
      <p:sp>
        <p:nvSpPr>
          <p:cNvPr id="8" name="Text 5">
            <a:hlinkClick r:id="rId2" tooltip=""/>
          </p:cNvPr>
          <p:cNvSpPr txBox="1"/>
          <p:nvPr/>
        </p:nvSpPr>
        <p:spPr>
          <a:xfrm>
            <a:off x="86868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9B4C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github.com/akshith-types/gremlin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CE99A"/>
                </a:solidFill>
              </a:rPr>
              <a:t>Live demo next 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mlin">
  <a:themeElements>
    <a:clrScheme name="Gremlin">
      <a:dk1>
        <a:srgbClr val="151A23"/>
      </a:dk1>
      <a:lt1>
        <a:srgbClr val="FFFFFF"/>
      </a:lt1>
      <a:dk2>
        <a:srgbClr val="3A4556"/>
      </a:dk2>
      <a:lt2>
        <a:srgbClr val="F2F5F3"/>
      </a:lt2>
      <a:accent1>
        <a:srgbClr val="2F9E44"/>
      </a:accent1>
      <a:accent2>
        <a:srgbClr val="E8590C"/>
      </a:accent2>
      <a:accent3>
        <a:srgbClr val="F59F00"/>
      </a:accent3>
      <a:accent4>
        <a:srgbClr val="1C7ED6"/>
      </a:accent4>
      <a:accent5>
        <a:srgbClr val="868E96"/>
      </a:accent5>
      <a:accent6>
        <a:srgbClr val="D9DFDB"/>
      </a:accent6>
      <a:hlink>
        <a:srgbClr val="1C7ED6"/>
      </a:hlink>
      <a:folHlink>
        <a:srgbClr val="6741D9"/>
      </a:folHlink>
    </a:clrScheme>
    <a:fontScheme name="Greml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GREMLIN - Review 3</dc:title>
  <dc:subject>PptxGenJS Presentation</dc:subject>
  <dc:creator>Akshith M</dc:creator>
  <cp:lastModifiedBy>Akshith M</cp:lastModifiedBy>
  <cp:revision>1</cp:revision>
  <dcterms:created xsi:type="dcterms:W3CDTF">2026-10-22T17:41:39Z</dcterms:created>
  <dcterms:modified xsi:type="dcterms:W3CDTF">2026-10-22T17:41:39Z</dcterms:modified>
</cp:coreProperties>
</file>